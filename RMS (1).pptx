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7" r:id="rId20"/>
    <p:sldId id="278" r:id="rId21"/>
    <p:sldId id="273" r:id="rId22"/>
    <p:sldId id="274" r:id="rId23"/>
    <p:sldId id="275" r:id="rId24"/>
    <p:sldId id="280" r:id="rId25"/>
    <p:sldId id="281" r:id="rId26"/>
    <p:sldId id="282" r:id="rId27"/>
    <p:sldId id="284" r:id="rId28"/>
    <p:sldId id="286" r:id="rId29"/>
    <p:sldId id="287" r:id="rId30"/>
    <p:sldId id="285" r:id="rId31"/>
    <p:sldId id="283" r:id="rId32"/>
    <p:sldId id="289" r:id="rId33"/>
    <p:sldId id="290" r:id="rId34"/>
    <p:sldId id="291" r:id="rId35"/>
    <p:sldId id="279" r:id="rId36"/>
    <p:sldId id="28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>
        <p:scale>
          <a:sx n="75" d="100"/>
          <a:sy n="75" d="100"/>
        </p:scale>
        <p:origin x="6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4471-C65C-3C3D-EEC6-146EBAD0A35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50E9A-C813-2D8D-6DB7-3A5409306D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F5F-6E62-113B-7967-8673B68DB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2C3982-4D16-4815-AA30-FD00243173AA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05512-9ED9-B7DE-5104-058AF29B62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5F03B-9817-760B-166F-3FBD05E0116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4A9A24-8303-439B-9C67-80FAB36945C3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0178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05E4-032C-CA2F-D275-4B795AB8A0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DB08-B363-EE86-6B4E-36B73F3CDD7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52212-5869-3D6F-C0D3-75DF785D0BD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FEA34C-BACC-423A-88C8-EF252E58199D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17984-9EAA-5524-EB7C-BACCF3B12C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5EC61-C10D-334A-890E-B98C78303E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C69886-54BE-4C2C-AB4D-5DCE335C453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3437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DB61-0D5B-4D4D-D850-6FC366E21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12B4B-8E8C-6B66-51D5-4F7D6D1CD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E3A-4E2D-02AC-22F9-56BE5FCC4E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F14135-01AD-4511-9A7C-0EB346422C55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69CC-0B62-1423-A34C-7A08207983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99D1-65A1-5706-98BB-55215316A6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5731EA-A54E-4E35-AB2F-448E09FB2CA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45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AD3D-378A-6AF1-C74B-60122BF873F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6826-33C0-F3E1-5A02-4E9CA4BD572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20A0F-EDA3-A63C-B90C-C2841FF4640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B63EC-C4B9-082E-0319-36D0F3AB433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B34B72-56BA-4F08-A6F8-E349D2F25142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B2852-84B2-062C-FAC7-CF768A189E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2463F-AF2C-BC4F-AC56-5C94BA4AE9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8DDA649-78C0-4E21-96E5-42DBD8DE11C3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2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A5A8-939C-A222-0EAE-6E9FDAEAA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EF7CC-1A98-1C5A-BF9D-CCE0AFA71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D47FB-BC6B-456E-373C-8705055BBED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51D2D-B628-60B5-5C8C-86EA36C8550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69C66-E633-6719-3163-9D7F5D0C469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5B1A6-F65E-D08D-DDDD-423BEFB8108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24A72A-AF64-4B8D-95B8-34800A56C583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C4037-FBDA-7BFC-18F2-3F744610AF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4C669-0AD9-D4D6-410C-FD80023C9B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546ABF-8C21-46A1-88F1-04C84E86B66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0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CDEF-80E7-49E6-F739-7950B2182CF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AA9ED-4B4E-2B11-1A95-B932B00531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4ED414-5A18-447B-83C7-68E3EA6A05C4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ABAB5-9EA2-EEF9-9444-F90E3B5231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138B-2835-6ED4-B339-7D9E868BE1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5C0421-820F-4A2B-86FD-6A824777976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25B4D-CFCF-2853-90B6-A0B3746542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85FC3E-3122-4B1E-9CC1-615EDF285397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AFCE9-0AF2-8FF3-3C51-8970C2BBA6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1C419-48A1-A0E2-F93B-81CF519F8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BF7ADD-DD29-4E33-8349-F2AD9126CA7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2388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0A2C-C890-74DA-B1A0-00BB23C12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054F-1EB6-CFA0-F0E7-46DEA405F96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FA5C0-11CC-2933-3E81-90EC9A4222D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E5922-FCBE-4E1B-1599-182E2BDDAC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A6CED2-001D-4510-9262-065044124BAE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8D730-1F83-ECD9-BC37-25350F5DEC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F41E6-FBE2-F463-9D03-6E5650C4EA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C500A1-1035-4B07-BB78-7614F293A06F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3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5716-721D-7A46-81F8-A2F1A0BD2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38178-2A00-F425-7BC1-71CC9ABC902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51D0F-AF89-BBA4-F253-990262CC756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C6449-7559-133C-BAE0-E0C49AD5AD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1DA0EC-B5F0-4DCB-91AC-B696A5F4059E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3E8B1-387B-8062-6907-C471DC7099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34A7-E73C-FF53-0616-C38AADE00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2F9AE0-9D54-4B1B-B39B-A6A829B802C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50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67FD-C0EF-9F01-149B-DD4429AA2D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120D7-85EA-4981-8809-0AFDA4400F0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F1BB-BD2C-5DBB-EC26-8B4E91DA18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02BD38-314A-451D-ABE7-CB3BF3CC26C3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A2B3-D78F-7AC7-7E26-12483DF963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5B7C7-C98E-1D5A-5FD7-6A77BF374C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F902DE-E946-48ED-92C3-D8014D30D550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8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2FE92-B765-DC96-E61A-DC21E97FB9F4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A2B4A-6050-1058-7684-D5B411D2742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FB6ED-1B96-7CF0-F841-9625C1DB95E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F1D283-A2AD-4FD6-9C04-11EDD1630035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49906-A28E-2A3F-F07B-6056FC3D64E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4CDC4-F537-72FA-701F-4C2165A580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4BB428-D3C9-42CD-B39B-FAE88F43535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29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95087-1359-6FEB-6AF8-FFEB72F17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CEA2B-0706-7DC7-65B9-6A51D3051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F5DC-025D-A60D-C954-D1155F5DACE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E93C5C7-9B46-4DC0-A95F-E427B8CA979A}" type="datetime1">
              <a:rPr lang="en-IN"/>
              <a:pPr lvl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1CEBA-6760-DC85-D455-E842A774C3F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35B44-1DB3-535E-57C6-E18DE450E6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1433109C-935F-4067-9FA0-4CFB0E99756E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D395-D360-8DBD-89B3-6DA31D21E879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RESTAURANT MANAGEMENT SYSTEM</a:t>
            </a:r>
            <a:endParaRPr lang="en-IN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69078F7-D99C-1301-6AEA-F014E9D18C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F09BD7-AB89-6C5D-9986-012F1FE1872E}"/>
              </a:ext>
            </a:extLst>
          </p:cNvPr>
          <p:cNvSpPr txBox="1"/>
          <p:nvPr/>
        </p:nvSpPr>
        <p:spPr>
          <a:xfrm>
            <a:off x="7375922" y="4489500"/>
            <a:ext cx="41969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Team members </a:t>
            </a:r>
          </a:p>
          <a:p>
            <a:endParaRPr lang="en-IN" sz="2400" b="1" dirty="0"/>
          </a:p>
          <a:p>
            <a:r>
              <a:rPr lang="en-IN" dirty="0"/>
              <a:t>25B11CS525: AKHIL SANTOSH </a:t>
            </a:r>
          </a:p>
          <a:p>
            <a:r>
              <a:rPr lang="en-IN" dirty="0"/>
              <a:t>25B11CS397: VENKATESH </a:t>
            </a:r>
          </a:p>
          <a:p>
            <a:r>
              <a:rPr lang="en-IN" dirty="0"/>
              <a:t>25B11CS320:LALITHAPRASAD</a:t>
            </a:r>
          </a:p>
          <a:p>
            <a:r>
              <a:rPr lang="en-IN" dirty="0"/>
              <a:t>25B11CSA62: PUNEETH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27627953-1288-D611-1C5B-64FD3A4F186F}"/>
              </a:ext>
            </a:extLst>
          </p:cNvPr>
          <p:cNvSpPr txBox="1"/>
          <p:nvPr/>
        </p:nvSpPr>
        <p:spPr>
          <a:xfrm>
            <a:off x="373623" y="1584801"/>
            <a:ext cx="11690558" cy="47705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Real-World Problem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4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Restaurants need to manage many customers, employees, dining tables, menu items, orders, bills, and payments.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Managing these details manually can lead to: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Errors in customer and order records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Difficulty in tracking table availability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Mistakes while recording orders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Problems in calculating bills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Difficulty in tracking payments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More time spent searching for information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Our Restaurant Management System solves these problems by storing and managing restaurant information in a database.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3A730C5-9FC2-D044-2193-B475A252D2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ACC7502-C9A0-723F-A742-8636D6DAFACF}"/>
              </a:ext>
            </a:extLst>
          </p:cNvPr>
          <p:cNvSpPr txBox="1"/>
          <p:nvPr/>
        </p:nvSpPr>
        <p:spPr>
          <a:xfrm>
            <a:off x="150592" y="1723351"/>
            <a:ext cx="11967712" cy="40934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the Project is Needed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40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project is needed to make restaurant activities faster, easier, and more organized.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 helps staff: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Quickly manage customer information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Check dining table availability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menu items and prices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Record and track customer orders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bills and discounts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Record payment information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 reduces manual paperwork and helps avoid common errors in order, billing, and payment management.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57C68485-97EE-D9BB-38A8-199368C451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D884BF4-9D96-B2CF-75F8-9862B2EF08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DE80849-F49C-DCA0-3E3C-8E2111C40FB1}"/>
              </a:ext>
            </a:extLst>
          </p:cNvPr>
          <p:cNvSpPr txBox="1"/>
          <p:nvPr/>
        </p:nvSpPr>
        <p:spPr>
          <a:xfrm>
            <a:off x="403122" y="1861855"/>
            <a:ext cx="11788874" cy="42165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Objectives</a:t>
            </a:r>
            <a:r>
              <a:rPr lang="en-IN" sz="4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of the Project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44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maintain customer details in a database.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maintain employee details and their roles.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manage dining table information and availability.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maintain menu items, categories, prices, and availability.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record and manage customer orders.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maintain order items and quantities.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generate and manage bills.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store and manage payment information.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reduce manual work and data entry errors.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provide quick and accurate access to restaurant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7D9FB79-E7BD-34D8-DE11-55814F28C9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C06FF2C-0DB4-3F30-E229-65189BD8059B}"/>
              </a:ext>
            </a:extLst>
          </p:cNvPr>
          <p:cNvSpPr txBox="1"/>
          <p:nvPr/>
        </p:nvSpPr>
        <p:spPr>
          <a:xfrm>
            <a:off x="150592" y="1446297"/>
            <a:ext cx="12041404" cy="464742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Functional Requirements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4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Functional Requirements are the tasks the system should perform: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Register and manage customer details.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Add, update, and delete employee information.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dining table details.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Check dining table availability.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Add and manage menu items.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Check menu item availability.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Create and manage customer orders.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Record ordered items and quantities.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Generate bills and apply discounts.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Record payment details.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Generate customer, order, billing, and payment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E30ACD-D688-BBC3-2186-EA8F4A5A46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AC4850A-5B52-1A33-14D2-6C48C3C02B68}"/>
              </a:ext>
            </a:extLst>
          </p:cNvPr>
          <p:cNvSpPr txBox="1"/>
          <p:nvPr/>
        </p:nvSpPr>
        <p:spPr>
          <a:xfrm>
            <a:off x="235979" y="1406475"/>
            <a:ext cx="9232486" cy="40934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Non-Functional Requirements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40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Non-Functional Requirements describe how the system should work: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Security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Customer and payment information should be protected.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Reliability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The system should provide accurate and consistent information.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Performance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The system should respond quickly to user requests.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Usability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The system should be simple and easy to use.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Scalability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The database should support more customers, employees, tables, menu items, and orders as the restaurant grows.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Data Integrity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The database should maintain correct and consistent records using primary keys, foreign keys, and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9ABE223-7748-2656-E7D1-788AB924BA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E573B56F-90A5-7E53-591D-E0894C0767AC}"/>
              </a:ext>
            </a:extLst>
          </p:cNvPr>
          <p:cNvSpPr txBox="1"/>
          <p:nvPr/>
        </p:nvSpPr>
        <p:spPr>
          <a:xfrm>
            <a:off x="334295" y="1225689"/>
            <a:ext cx="11707108" cy="56323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End Users of the System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Restaurant Manager: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employees and restaurant operations.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View customer, order, billing, and payment information.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Cashier: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bills and payments.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View order and customer details.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Waiters: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customer orders.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Record ordered menu items.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Assist customers with table and order information.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Restaurant Staff: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dining table status.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Assist with restaurant operations.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Customers: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Provide personal information.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Place orders.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Select menu items.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Administrator: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Manage database records.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Maintain restaurant information and overall system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6E517C6-2F5B-C87D-FDD1-C31B9088CD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E9B5C43A-4E5E-3525-0E36-DBBB3ED24F65}"/>
              </a:ext>
            </a:extLst>
          </p:cNvPr>
          <p:cNvSpPr txBox="1"/>
          <p:nvPr/>
        </p:nvSpPr>
        <p:spPr>
          <a:xfrm>
            <a:off x="491608" y="1446297"/>
            <a:ext cx="11238268" cy="51398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Entities and Attributes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Customer: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customers who visit the restaurant.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Customer_ID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Name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Phone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Email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Address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customer details to identify each customer and maintain their contact information and address.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67F2C0A-A36F-A2DC-77EC-A51280E27A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B81B3614-A692-5A95-472C-41F9A5DCABCC}"/>
              </a:ext>
            </a:extLst>
          </p:cNvPr>
          <p:cNvSpPr txBox="1"/>
          <p:nvPr/>
        </p:nvSpPr>
        <p:spPr>
          <a:xfrm>
            <a:off x="481779" y="1723296"/>
            <a:ext cx="11149782" cy="42473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Employee: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employees working in the restaurant.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Employee_ID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Name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Phone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Email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Role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employee details to identify restaurant employees and maintain their contact information and 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3059B06-595E-515C-9C99-98304DF2D8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C748860-0A6E-2186-48B9-619B1CC75CF7}"/>
              </a:ext>
            </a:extLst>
          </p:cNvPr>
          <p:cNvSpPr txBox="1"/>
          <p:nvPr/>
        </p:nvSpPr>
        <p:spPr>
          <a:xfrm>
            <a:off x="639092" y="1861800"/>
            <a:ext cx="11169441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Dining Table: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the dining tables available in the restaurant.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Table_ID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Capacity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Status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restaurant needs to know the available tables, their seating capacity, and whether they are currently available or occupied.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8E66B21-6FF2-2289-7910-74313265AE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257018ED-6689-F968-B6C6-6DC18BA49964}"/>
              </a:ext>
            </a:extLst>
          </p:cNvPr>
          <p:cNvSpPr txBox="1"/>
          <p:nvPr/>
        </p:nvSpPr>
        <p:spPr>
          <a:xfrm>
            <a:off x="717758" y="1723296"/>
            <a:ext cx="11336594" cy="42473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Menu: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food and beverage items available in the restaurant.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Item_ID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Item_Name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Category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Price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Availability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menu details to maintain the food items, their categories, prices, and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29D2C57-FC0C-02B6-11C7-9CDDD84B82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2B21BB8-8DC5-662C-D482-E04950EA161E}"/>
              </a:ext>
            </a:extLst>
          </p:cNvPr>
          <p:cNvSpPr txBox="1"/>
          <p:nvPr/>
        </p:nvSpPr>
        <p:spPr>
          <a:xfrm>
            <a:off x="540776" y="1582341"/>
            <a:ext cx="10854814" cy="50783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customer orders placed in the restaurant.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Customer_ID —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Employee_ID —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Table_ID —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Order_Date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Order_Time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Order_Status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order details to identify each order, the customer who placed it, the employee handling it, the dining table used, and the current order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4C354E2-923D-20AF-EC0A-EC3F0A5EAD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5B434A01-CA12-923B-2C85-B1849318C0E9}"/>
              </a:ext>
            </a:extLst>
          </p:cNvPr>
          <p:cNvSpPr txBox="1"/>
          <p:nvPr/>
        </p:nvSpPr>
        <p:spPr>
          <a:xfrm>
            <a:off x="599764" y="1623279"/>
            <a:ext cx="11434919" cy="45243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 Item: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the menu items included in each order.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Order_ID — Primary Key /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Item_ID — Primary Key /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Quantity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Unit_Price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An order can contain different menu items, so the Order Item entity records which items were ordered, their quantities, and their prices.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combination of Order_ID and Item_ID acts as the composite primary key.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5045430-A42A-2B5F-9B09-597F2C1BD3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E4D1A532-24F1-EC48-1AAE-2F3C89067645}"/>
              </a:ext>
            </a:extLst>
          </p:cNvPr>
          <p:cNvSpPr txBox="1"/>
          <p:nvPr/>
        </p:nvSpPr>
        <p:spPr>
          <a:xfrm>
            <a:off x="530946" y="1723296"/>
            <a:ext cx="11218609" cy="42473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bills generated for customer orders.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Bill_ID — Primary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Order_ID — Foreign Key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Bill_Date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Total_Amount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Discount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bill details to calculate and maintain the total amount and discount associated with each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C368307-C444-B81B-D33F-126F1050DB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B309DD6F-71B8-F7CB-ACB4-691444F278BB}"/>
              </a:ext>
            </a:extLst>
          </p:cNvPr>
          <p:cNvSpPr txBox="1"/>
          <p:nvPr/>
        </p:nvSpPr>
        <p:spPr>
          <a:xfrm>
            <a:off x="904570" y="1446297"/>
            <a:ext cx="10500850" cy="480131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Payment: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Stores information about payments made for restaurant bills.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Attributes: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Payment_ID — Primary Key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Bill_ID — Foreign Key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Payment_Date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Amount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Status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Payment_Type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Why included?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 need payment details to record the amount paid, payment date, payment status, and payment method such as cash, card, or UPI.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0A3A912-B693-78DB-2C16-D7D2FAC076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87F56175-BB85-A38D-6333-368474A27955}"/>
              </a:ext>
            </a:extLst>
          </p:cNvPr>
          <p:cNvSpPr txBox="1"/>
          <p:nvPr/>
        </p:nvSpPr>
        <p:spPr>
          <a:xfrm>
            <a:off x="599764" y="1169298"/>
            <a:ext cx="10923632" cy="56323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Dining Table — Orders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Used_for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Cardinality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dining table can be associated with many orders over time, but each order is associated with one dining table.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Example: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Table 2 can be associated with Order 501 and other orders at different times.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Orders — Order Item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Contains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Cardinality</a:t>
            </a: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order can contain many order items, but each order item belongs to one order.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Example: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 501 can contain multiple menu items.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4B3310-414D-EF7E-6F9C-D3577C8CA7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72ED948C-7D30-3E36-B9B0-DA7CCDDB8CE9}"/>
              </a:ext>
            </a:extLst>
          </p:cNvPr>
          <p:cNvSpPr txBox="1"/>
          <p:nvPr/>
        </p:nvSpPr>
        <p:spPr>
          <a:xfrm>
            <a:off x="639092" y="1406475"/>
            <a:ext cx="9783092" cy="36625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Menu — Order Item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Included_in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Cardinality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menu item can appear in many order items, but each order item refers to one menu item.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Example: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Chicken Biryani can be included in Order 501, Order 515, and other orders.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Orders — Bill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Generates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Cardinality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1:1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order generates one bill, and each bill belongs to one order.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FA7DB5E-0FB0-A6FC-F021-ED7C84CA5FF0}"/>
              </a:ext>
            </a:extLst>
          </p:cNvPr>
          <p:cNvSpPr txBox="1"/>
          <p:nvPr/>
        </p:nvSpPr>
        <p:spPr>
          <a:xfrm>
            <a:off x="639092" y="5069012"/>
            <a:ext cx="11090785" cy="1323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 — Payment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Relationship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Has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Cardinality</a:t>
            </a: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: 1:1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bill has one payment record, and each payment belongs to one bill in our basic system.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FBFF7B9-7346-5568-391A-58F0606BCF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55B5AFA0-0691-8C0B-9723-B7CB324B526C}"/>
              </a:ext>
            </a:extLst>
          </p:cNvPr>
          <p:cNvSpPr txBox="1"/>
          <p:nvPr/>
        </p:nvSpPr>
        <p:spPr>
          <a:xfrm>
            <a:off x="727588" y="1446297"/>
            <a:ext cx="10854814" cy="4401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Cardinalities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3200" b="1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Customer–Orders: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One customer can place many orders, but each order belongs to one customer.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Employee–Orders: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One employee can handle many orders, but each order is handled by one employee.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Dining Table–Orders: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One dining table can be associated with many orders over different periods, but each order is associated with one table.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Orders–Order Item: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One order can contain many order items, but each order item belongs to one order.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0995784-E094-B195-FD40-0231365B65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47F64822-FC59-0C9F-F4B9-163B40C2E635}"/>
              </a:ext>
            </a:extLst>
          </p:cNvPr>
          <p:cNvSpPr txBox="1"/>
          <p:nvPr/>
        </p:nvSpPr>
        <p:spPr>
          <a:xfrm>
            <a:off x="732507" y="1828909"/>
            <a:ext cx="10726990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Menu–Order Item: 1:M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menu item can appear in many order items, but each order item refers to one menu item.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Orders–Bill: 1:1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order generates one bill, and each bill belongs to one order.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Bill–Payment: 1:1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One bill has one payment record, and each payment belongs to one bill in our basic system.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M:N Relationship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Orders and Menu Items can have an M:N relationship because one order can contain multiple menu items and one menu item can be included in multiple orders.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This M:N relationship is handled through the Order_Item entity.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4032EDA-E0C4-6A8A-E17E-2036B58E84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C647349-CBBE-3701-E3EA-3F621F71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1" y="1406475"/>
            <a:ext cx="10726990" cy="523721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C09CDBA-6A75-1AB8-CB62-D799F4360F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80E44F07-79E0-B5C1-ED76-CBA79F5384D9}"/>
              </a:ext>
            </a:extLst>
          </p:cNvPr>
          <p:cNvSpPr txBox="1"/>
          <p:nvPr/>
        </p:nvSpPr>
        <p:spPr>
          <a:xfrm>
            <a:off x="150592" y="1406475"/>
            <a:ext cx="12041404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Relational Schema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1A5FCF2-C91B-E617-1155-47A176CE891C}"/>
              </a:ext>
            </a:extLst>
          </p:cNvPr>
          <p:cNvSpPr txBox="1"/>
          <p:nvPr/>
        </p:nvSpPr>
        <p:spPr>
          <a:xfrm>
            <a:off x="796414" y="2835426"/>
            <a:ext cx="3047996" cy="2031321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CUSTOMER(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Customer_ID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Name: VARCHAR(50),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Phone: VARCHAR(15),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Email: VARCHAR(50),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Address: VARCHAR(100)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01F289A4-3420-15A5-736B-19626DCF1368}"/>
              </a:ext>
            </a:extLst>
          </p:cNvPr>
          <p:cNvSpPr txBox="1"/>
          <p:nvPr/>
        </p:nvSpPr>
        <p:spPr>
          <a:xfrm>
            <a:off x="4591659" y="2835426"/>
            <a:ext cx="2851355" cy="2031321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EMPLOYEE(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Employee_ID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Name: VARCHAR(50),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Phone: VARCHAR(15),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Email: VARCHAR(50),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Role: VARCHAR(30)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B6615E9-2478-9B22-95B3-523D603A0382}"/>
              </a:ext>
            </a:extLst>
          </p:cNvPr>
          <p:cNvSpPr txBox="1"/>
          <p:nvPr/>
        </p:nvSpPr>
        <p:spPr>
          <a:xfrm>
            <a:off x="8190271" y="2835426"/>
            <a:ext cx="2576047" cy="2031321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DINING_TABLE(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Table_ID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Capacity: INT,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Status: VARCHAR(20)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DC7715-7857-3937-6684-C57F8CC1EA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86159011-92A8-837B-8CD9-AE8D649F60FF}"/>
              </a:ext>
            </a:extLst>
          </p:cNvPr>
          <p:cNvSpPr txBox="1"/>
          <p:nvPr/>
        </p:nvSpPr>
        <p:spPr>
          <a:xfrm>
            <a:off x="2785646" y="1406475"/>
            <a:ext cx="60960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Relational Schema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7C93457-8FEC-A16B-5581-7A4959D28928}"/>
              </a:ext>
            </a:extLst>
          </p:cNvPr>
          <p:cNvSpPr txBox="1"/>
          <p:nvPr/>
        </p:nvSpPr>
        <p:spPr>
          <a:xfrm>
            <a:off x="6223817" y="2758232"/>
            <a:ext cx="4070552" cy="2585319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ORDERS(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Customer_ID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Employee_ID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Table_ID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Order_Date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DATE,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Order_Time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VARCHAR(8),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Order_Status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VARCHAR(20)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E3DB0-2420-4744-0D67-DD93A73D3412}"/>
              </a:ext>
            </a:extLst>
          </p:cNvPr>
          <p:cNvSpPr txBox="1"/>
          <p:nvPr/>
        </p:nvSpPr>
        <p:spPr>
          <a:xfrm>
            <a:off x="1333323" y="2758232"/>
            <a:ext cx="3954066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MENU(</a:t>
            </a:r>
          </a:p>
          <a:p>
            <a:r>
              <a:rPr lang="en-IN" dirty="0"/>
              <a:t>    </a:t>
            </a:r>
            <a:r>
              <a:rPr lang="en-IN" dirty="0" err="1"/>
              <a:t>Item_ID</a:t>
            </a:r>
            <a:r>
              <a:rPr lang="en-IN" dirty="0"/>
              <a:t>: INT PK,</a:t>
            </a:r>
          </a:p>
          <a:p>
            <a:r>
              <a:rPr lang="en-IN" dirty="0"/>
              <a:t>    </a:t>
            </a:r>
            <a:r>
              <a:rPr lang="en-IN" dirty="0" err="1"/>
              <a:t>Item_Name</a:t>
            </a:r>
            <a:r>
              <a:rPr lang="en-IN" dirty="0"/>
              <a:t>: VARCHAR(50),</a:t>
            </a:r>
          </a:p>
          <a:p>
            <a:r>
              <a:rPr lang="en-IN" dirty="0"/>
              <a:t>    Category: VARCHAR(30),</a:t>
            </a:r>
          </a:p>
          <a:p>
            <a:r>
              <a:rPr lang="en-IN" dirty="0"/>
              <a:t>    Price: NUMBER(10,2),</a:t>
            </a:r>
          </a:p>
          <a:p>
            <a:r>
              <a:rPr lang="en-IN" dirty="0"/>
              <a:t>    Availability: VARCHAR(20)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EC0610C-A362-528B-84FD-FE65D2CAFE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DF0B41E0-0AD4-E40B-54F3-8362F22D02D2}"/>
              </a:ext>
            </a:extLst>
          </p:cNvPr>
          <p:cNvSpPr txBox="1"/>
          <p:nvPr/>
        </p:nvSpPr>
        <p:spPr>
          <a:xfrm>
            <a:off x="3136492" y="1406475"/>
            <a:ext cx="60960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Relational Schema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06C3400-E142-3833-2282-73EC0888BA08}"/>
              </a:ext>
            </a:extLst>
          </p:cNvPr>
          <p:cNvSpPr txBox="1"/>
          <p:nvPr/>
        </p:nvSpPr>
        <p:spPr>
          <a:xfrm>
            <a:off x="914400" y="2750094"/>
            <a:ext cx="3283976" cy="2308320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ORDER_ITEM(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Item_ID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Quantity: INT,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Unit_Price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NUMBER(10,2)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E37CC24-969C-62C5-E77E-8FF01042E24A}"/>
              </a:ext>
            </a:extLst>
          </p:cNvPr>
          <p:cNvSpPr txBox="1"/>
          <p:nvPr/>
        </p:nvSpPr>
        <p:spPr>
          <a:xfrm>
            <a:off x="4434346" y="2750094"/>
            <a:ext cx="3500286" cy="2308320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BILL(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Bill_ID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Order_ID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Bill_Date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DATE,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Total_Amount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NUMBER(10,2),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Discount: NUMBER(10,2)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1D604860-84A3-5AC9-16A9-3E44C2CAB7F4}"/>
              </a:ext>
            </a:extLst>
          </p:cNvPr>
          <p:cNvSpPr txBox="1"/>
          <p:nvPr/>
        </p:nvSpPr>
        <p:spPr>
          <a:xfrm>
            <a:off x="8170602" y="2750094"/>
            <a:ext cx="3431459" cy="2308320"/>
          </a:xfrm>
          <a:prstGeom prst="rect">
            <a:avLst/>
          </a:prstGeom>
          <a:solidFill>
            <a:srgbClr val="DCEAF7"/>
          </a:solidFill>
          <a:ln cap="flat">
            <a:solidFill>
              <a:schemeClr val="tx1"/>
            </a:solidFill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PAYMENT(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Payment_ID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PK,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Bill_ID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INT FK,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Payment_Date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DATE,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Amount: NUMBER(10,2),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Status: VARCHAR(20),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Payment_Type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VARCHAR(20)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285D7A-5AB0-0047-7BA4-0407FB94AB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09DAE5A-3908-4261-84C3-F60210DD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451" y="1406475"/>
            <a:ext cx="6724653" cy="4781553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B75D6E3-CB29-CB0C-7890-2963B7F37831}"/>
              </a:ext>
            </a:extLst>
          </p:cNvPr>
          <p:cNvSpPr txBox="1"/>
          <p:nvPr/>
        </p:nvSpPr>
        <p:spPr>
          <a:xfrm>
            <a:off x="409843" y="2366092"/>
            <a:ext cx="3857359" cy="2862318"/>
          </a:xfrm>
          <a:prstGeom prst="rect">
            <a:avLst/>
          </a:prstGeom>
          <a:solidFill>
            <a:srgbClr val="E8E8E8"/>
          </a:solidFill>
          <a:ln cap="flat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CREATE TABLE customer (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</a:t>
            </a:r>
            <a:r>
              <a:rPr lang="en-IN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customer_id</a:t>
            </a: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INT PRIMARY KEY,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name VARCHAR2(50) NOT NULL,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phone VARCHAR2(15) UNIQUE NOT NULL,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email VARCHAR2(50) UNIQUE NOT NULL,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   address VARCHAR2(100) NOT NULL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5E255-BF27-E044-D378-F7D6A3650AD3}"/>
              </a:ext>
            </a:extLst>
          </p:cNvPr>
          <p:cNvSpPr txBox="1"/>
          <p:nvPr/>
        </p:nvSpPr>
        <p:spPr>
          <a:xfrm>
            <a:off x="409843" y="1701612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CUSTOMER TABLE: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5B2E33-26E1-C4D3-B6D4-E05272E7FC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573FD30-7F57-214B-DFCA-F7101DBC1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4" y="1009648"/>
            <a:ext cx="6298789" cy="4838703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6C9634-8AC9-E029-5B6B-307A3084EDBD}"/>
              </a:ext>
            </a:extLst>
          </p:cNvPr>
          <p:cNvSpPr txBox="1"/>
          <p:nvPr/>
        </p:nvSpPr>
        <p:spPr>
          <a:xfrm>
            <a:off x="263546" y="2413337"/>
            <a:ext cx="4694217" cy="2031325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employee (</a:t>
            </a:r>
          </a:p>
          <a:p>
            <a:r>
              <a:rPr lang="en-IN" dirty="0"/>
              <a:t>    </a:t>
            </a:r>
            <a:r>
              <a:rPr lang="en-IN" dirty="0" err="1"/>
              <a:t>employee_id</a:t>
            </a:r>
            <a:r>
              <a:rPr lang="en-IN" dirty="0"/>
              <a:t> INT PRIMARY KEY,</a:t>
            </a:r>
          </a:p>
          <a:p>
            <a:r>
              <a:rPr lang="en-IN" dirty="0"/>
              <a:t>    name VARCHAR2(50) NOT NULL,</a:t>
            </a:r>
          </a:p>
          <a:p>
            <a:r>
              <a:rPr lang="en-IN" dirty="0"/>
              <a:t>    phone VARCHAR2(15) UNIQUE NOT NULL,</a:t>
            </a:r>
          </a:p>
          <a:p>
            <a:r>
              <a:rPr lang="en-IN" dirty="0"/>
              <a:t>    email VARCHAR2(50) UNIQUE NOT NULL,</a:t>
            </a:r>
          </a:p>
          <a:p>
            <a:r>
              <a:rPr lang="en-IN" dirty="0"/>
              <a:t>    role VARCHAR2(30) NOT NULL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83287-F95D-2136-9C41-BB6066DA06D2}"/>
              </a:ext>
            </a:extLst>
          </p:cNvPr>
          <p:cNvSpPr txBox="1"/>
          <p:nvPr/>
        </p:nvSpPr>
        <p:spPr>
          <a:xfrm>
            <a:off x="245300" y="1725235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EMPLOYEE TABLE: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5DFB70-4924-87F5-2F96-781EE5516A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4DB6A8B-26E4-C448-A939-F35C3617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468" y="1406465"/>
            <a:ext cx="5781678" cy="4686299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D08FD2-1A85-1715-7DBA-5F3C13C28968}"/>
              </a:ext>
            </a:extLst>
          </p:cNvPr>
          <p:cNvSpPr txBox="1"/>
          <p:nvPr/>
        </p:nvSpPr>
        <p:spPr>
          <a:xfrm>
            <a:off x="554409" y="2585699"/>
            <a:ext cx="3974729" cy="1477328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</a:t>
            </a:r>
            <a:r>
              <a:rPr lang="en-IN" dirty="0" err="1"/>
              <a:t>dining_table</a:t>
            </a:r>
            <a:r>
              <a:rPr lang="en-IN" dirty="0"/>
              <a:t> ( </a:t>
            </a:r>
          </a:p>
          <a:p>
            <a:r>
              <a:rPr lang="en-IN" dirty="0" err="1"/>
              <a:t>table_id</a:t>
            </a:r>
            <a:r>
              <a:rPr lang="en-IN" dirty="0"/>
              <a:t> INT PRIMARY KEY,</a:t>
            </a:r>
          </a:p>
          <a:p>
            <a:r>
              <a:rPr lang="en-IN" dirty="0"/>
              <a:t> capacity INT NOT NULL,</a:t>
            </a:r>
          </a:p>
          <a:p>
            <a:r>
              <a:rPr lang="en-IN" dirty="0"/>
              <a:t> status VARCHAR(20) NOT NULL </a:t>
            </a:r>
          </a:p>
          <a:p>
            <a:r>
              <a:rPr lang="en-IN" dirty="0"/>
              <a:t>);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CC4ED-306A-6AD9-FB36-4570F3CEA355}"/>
              </a:ext>
            </a:extLst>
          </p:cNvPr>
          <p:cNvSpPr txBox="1"/>
          <p:nvPr/>
        </p:nvSpPr>
        <p:spPr>
          <a:xfrm>
            <a:off x="554409" y="1811416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DINING_TABLE: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AEFFFD-0F63-6BF0-7F2D-0D8D94C069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FD89A8B-F817-0B05-394C-7702211D6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234" y="1557338"/>
            <a:ext cx="6410328" cy="4686299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E3906C-D567-C43B-76BB-1C5AD6630CE8}"/>
              </a:ext>
            </a:extLst>
          </p:cNvPr>
          <p:cNvSpPr txBox="1"/>
          <p:nvPr/>
        </p:nvSpPr>
        <p:spPr>
          <a:xfrm>
            <a:off x="406422" y="2413337"/>
            <a:ext cx="4279878" cy="2031325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menu (</a:t>
            </a:r>
          </a:p>
          <a:p>
            <a:r>
              <a:rPr lang="en-IN" dirty="0"/>
              <a:t>    </a:t>
            </a:r>
            <a:r>
              <a:rPr lang="en-IN" dirty="0" err="1"/>
              <a:t>item_id</a:t>
            </a:r>
            <a:r>
              <a:rPr lang="en-IN" dirty="0"/>
              <a:t>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item_name</a:t>
            </a:r>
            <a:r>
              <a:rPr lang="en-IN" dirty="0"/>
              <a:t> VARCHAR2(50) NOT NULL,</a:t>
            </a:r>
          </a:p>
          <a:p>
            <a:r>
              <a:rPr lang="en-IN" dirty="0"/>
              <a:t>    category VARCHAR2(30) NOT NULL,</a:t>
            </a:r>
          </a:p>
          <a:p>
            <a:r>
              <a:rPr lang="en-IN" dirty="0"/>
              <a:t>    price NUMBER(10,2) NOT NULL,</a:t>
            </a:r>
          </a:p>
          <a:p>
            <a:r>
              <a:rPr lang="en-IN" dirty="0"/>
              <a:t>    availability VARCHAR2(20) NOT NULL</a:t>
            </a:r>
          </a:p>
          <a:p>
            <a:r>
              <a:rPr lang="en-IN" dirty="0"/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14D37-15CE-9712-B6DC-C3E3C3D03CAA}"/>
              </a:ext>
            </a:extLst>
          </p:cNvPr>
          <p:cNvSpPr txBox="1"/>
          <p:nvPr/>
        </p:nvSpPr>
        <p:spPr>
          <a:xfrm>
            <a:off x="406422" y="1835090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MENU TABLE: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6E172F0-113E-44C6-B0B1-C9F9F60C52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E4921D66-034A-1933-7A7A-6CDD97A38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402" y="1071557"/>
            <a:ext cx="5983540" cy="4714875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3DA636-3066-33D9-9BD6-A17C4C94E771}"/>
              </a:ext>
            </a:extLst>
          </p:cNvPr>
          <p:cNvSpPr txBox="1"/>
          <p:nvPr/>
        </p:nvSpPr>
        <p:spPr>
          <a:xfrm>
            <a:off x="546497" y="2048292"/>
            <a:ext cx="4639866" cy="4247317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orders (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customer_id</a:t>
            </a:r>
            <a:r>
              <a:rPr lang="en-IN" dirty="0"/>
              <a:t> INT NOT NULL,</a:t>
            </a:r>
          </a:p>
          <a:p>
            <a:r>
              <a:rPr lang="en-IN" dirty="0"/>
              <a:t>    </a:t>
            </a:r>
            <a:r>
              <a:rPr lang="en-IN" dirty="0" err="1"/>
              <a:t>employee_id</a:t>
            </a:r>
            <a:r>
              <a:rPr lang="en-IN" dirty="0"/>
              <a:t> INT NOT NULL,</a:t>
            </a:r>
          </a:p>
          <a:p>
            <a:r>
              <a:rPr lang="en-IN" dirty="0"/>
              <a:t>    </a:t>
            </a:r>
            <a:r>
              <a:rPr lang="en-IN" dirty="0" err="1"/>
              <a:t>table_id</a:t>
            </a:r>
            <a:r>
              <a:rPr lang="en-IN" dirty="0"/>
              <a:t> INT NOT NULL,</a:t>
            </a:r>
          </a:p>
          <a:p>
            <a:r>
              <a:rPr lang="en-IN" dirty="0"/>
              <a:t>    </a:t>
            </a:r>
            <a:r>
              <a:rPr lang="en-IN" dirty="0" err="1"/>
              <a:t>order_date</a:t>
            </a:r>
            <a:r>
              <a:rPr lang="en-IN" dirty="0"/>
              <a:t> DATE NOT NULL,</a:t>
            </a:r>
          </a:p>
          <a:p>
            <a:r>
              <a:rPr lang="en-IN" dirty="0"/>
              <a:t>    </a:t>
            </a:r>
            <a:r>
              <a:rPr lang="en-IN" dirty="0" err="1"/>
              <a:t>order_time</a:t>
            </a:r>
            <a:r>
              <a:rPr lang="en-IN" dirty="0"/>
              <a:t> VARCHAR2(8) NOT NULL,</a:t>
            </a:r>
          </a:p>
          <a:p>
            <a:r>
              <a:rPr lang="en-IN" dirty="0"/>
              <a:t>    </a:t>
            </a:r>
            <a:r>
              <a:rPr lang="en-IN" dirty="0" err="1"/>
              <a:t>order_status</a:t>
            </a:r>
            <a:r>
              <a:rPr lang="en-IN" dirty="0"/>
              <a:t> VARCHAR2(20) NOT NULL,</a:t>
            </a:r>
          </a:p>
          <a:p>
            <a:r>
              <a:rPr lang="en-IN" dirty="0"/>
              <a:t>    FOREIGN KEY (</a:t>
            </a:r>
            <a:r>
              <a:rPr lang="en-IN" dirty="0" err="1"/>
              <a:t>customer_id</a:t>
            </a:r>
            <a:r>
              <a:rPr lang="en-IN" dirty="0"/>
              <a:t>) REFERENCES customer(</a:t>
            </a:r>
            <a:r>
              <a:rPr lang="en-IN" dirty="0" err="1"/>
              <a:t>customer_id</a:t>
            </a:r>
            <a:r>
              <a:rPr lang="en-IN" dirty="0"/>
              <a:t>),</a:t>
            </a:r>
          </a:p>
          <a:p>
            <a:r>
              <a:rPr lang="en-IN" dirty="0"/>
              <a:t>    FOREIGN KEY (</a:t>
            </a:r>
            <a:r>
              <a:rPr lang="en-IN" dirty="0" err="1"/>
              <a:t>employee_id</a:t>
            </a:r>
            <a:r>
              <a:rPr lang="en-IN" dirty="0"/>
              <a:t>) REFERENCES employee(</a:t>
            </a:r>
            <a:r>
              <a:rPr lang="en-IN" dirty="0" err="1"/>
              <a:t>employee_id</a:t>
            </a:r>
            <a:r>
              <a:rPr lang="en-IN" dirty="0"/>
              <a:t>),</a:t>
            </a:r>
          </a:p>
          <a:p>
            <a:r>
              <a:rPr lang="en-IN" dirty="0"/>
              <a:t>    FOREIGN KEY (</a:t>
            </a:r>
            <a:r>
              <a:rPr lang="en-IN" dirty="0" err="1"/>
              <a:t>table_id</a:t>
            </a:r>
            <a:r>
              <a:rPr lang="en-IN" dirty="0"/>
              <a:t>) REFERENCES </a:t>
            </a:r>
            <a:r>
              <a:rPr lang="en-IN" dirty="0" err="1"/>
              <a:t>dining_table</a:t>
            </a:r>
            <a:r>
              <a:rPr lang="en-IN" dirty="0"/>
              <a:t>(</a:t>
            </a:r>
            <a:r>
              <a:rPr lang="en-IN" dirty="0" err="1"/>
              <a:t>table_id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62033-AA84-D369-AC4D-20946E6527E2}"/>
              </a:ext>
            </a:extLst>
          </p:cNvPr>
          <p:cNvSpPr txBox="1"/>
          <p:nvPr/>
        </p:nvSpPr>
        <p:spPr>
          <a:xfrm>
            <a:off x="546497" y="1585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ORDERS TABLE: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41F0D37-C8B6-1D2C-6D9F-7A49156552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A736B4-F433-E0A4-B06A-90C7EB70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267" y="1200918"/>
            <a:ext cx="5895978" cy="48101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BD634-3A16-7824-EF56-BE102181D889}"/>
              </a:ext>
            </a:extLst>
          </p:cNvPr>
          <p:cNvSpPr txBox="1"/>
          <p:nvPr/>
        </p:nvSpPr>
        <p:spPr>
          <a:xfrm>
            <a:off x="364905" y="2660636"/>
            <a:ext cx="4735733" cy="3139321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</a:t>
            </a:r>
            <a:r>
              <a:rPr lang="en-IN" dirty="0" err="1"/>
              <a:t>order_item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item_id</a:t>
            </a:r>
            <a:r>
              <a:rPr lang="en-IN" dirty="0"/>
              <a:t> INT,</a:t>
            </a:r>
          </a:p>
          <a:p>
            <a:r>
              <a:rPr lang="en-IN" dirty="0"/>
              <a:t>    quantity INT NOT NULL,</a:t>
            </a:r>
          </a:p>
          <a:p>
            <a:r>
              <a:rPr lang="en-IN" dirty="0"/>
              <a:t>    </a:t>
            </a:r>
            <a:r>
              <a:rPr lang="en-IN" dirty="0" err="1"/>
              <a:t>unit_price</a:t>
            </a:r>
            <a:r>
              <a:rPr lang="en-IN" dirty="0"/>
              <a:t> NUMBER(10,2) NOT NULL,</a:t>
            </a:r>
          </a:p>
          <a:p>
            <a:r>
              <a:rPr lang="en-IN" dirty="0"/>
              <a:t>    PRIMARY KEY (</a:t>
            </a:r>
            <a:r>
              <a:rPr lang="en-IN" dirty="0" err="1"/>
              <a:t>order_id</a:t>
            </a:r>
            <a:r>
              <a:rPr lang="en-IN" dirty="0"/>
              <a:t>, </a:t>
            </a:r>
            <a:r>
              <a:rPr lang="en-IN" dirty="0" err="1"/>
              <a:t>item_id</a:t>
            </a:r>
            <a:r>
              <a:rPr lang="en-IN" dirty="0"/>
              <a:t>),</a:t>
            </a:r>
          </a:p>
          <a:p>
            <a:r>
              <a:rPr lang="en-IN" dirty="0"/>
              <a:t>    FOREIGN KEY (</a:t>
            </a:r>
            <a:r>
              <a:rPr lang="en-IN" dirty="0" err="1"/>
              <a:t>order_id</a:t>
            </a:r>
            <a:r>
              <a:rPr lang="en-IN" dirty="0"/>
              <a:t>) REFERENCES orders(</a:t>
            </a:r>
            <a:r>
              <a:rPr lang="en-IN" dirty="0" err="1"/>
              <a:t>order_id</a:t>
            </a:r>
            <a:r>
              <a:rPr lang="en-IN" dirty="0"/>
              <a:t>),</a:t>
            </a:r>
          </a:p>
          <a:p>
            <a:r>
              <a:rPr lang="en-IN" dirty="0"/>
              <a:t>    FOREIGN KEY (</a:t>
            </a:r>
            <a:r>
              <a:rPr lang="en-IN" dirty="0" err="1"/>
              <a:t>item_id</a:t>
            </a:r>
            <a:r>
              <a:rPr lang="en-IN" dirty="0"/>
              <a:t>) REFERENCES menu(</a:t>
            </a:r>
            <a:r>
              <a:rPr lang="en-IN" dirty="0" err="1"/>
              <a:t>item_id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CBD6E-7F44-B73F-C728-AA8D69A92D44}"/>
              </a:ext>
            </a:extLst>
          </p:cNvPr>
          <p:cNvSpPr txBox="1"/>
          <p:nvPr/>
        </p:nvSpPr>
        <p:spPr>
          <a:xfrm>
            <a:off x="364905" y="1964255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ORDER_ITEM TABLE: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134845-6922-66F5-A552-28E18136F3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E1CC3060-ED89-0187-65DC-74BCA8FEC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933" y="1303696"/>
            <a:ext cx="6657975" cy="4781553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C7E98A-090D-DBDA-4CEE-CA9B671985F4}"/>
              </a:ext>
            </a:extLst>
          </p:cNvPr>
          <p:cNvSpPr txBox="1"/>
          <p:nvPr/>
        </p:nvSpPr>
        <p:spPr>
          <a:xfrm>
            <a:off x="336329" y="2546300"/>
            <a:ext cx="4221383" cy="2862322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bill (</a:t>
            </a:r>
          </a:p>
          <a:p>
            <a:r>
              <a:rPr lang="en-IN" dirty="0"/>
              <a:t>    </a:t>
            </a:r>
            <a:r>
              <a:rPr lang="en-IN" dirty="0" err="1"/>
              <a:t>bill_id</a:t>
            </a:r>
            <a:r>
              <a:rPr lang="en-IN" dirty="0"/>
              <a:t>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 UNIQUE NOT NULL,</a:t>
            </a:r>
          </a:p>
          <a:p>
            <a:r>
              <a:rPr lang="en-IN" dirty="0"/>
              <a:t>    </a:t>
            </a:r>
            <a:r>
              <a:rPr lang="en-IN" dirty="0" err="1"/>
              <a:t>bill_date</a:t>
            </a:r>
            <a:r>
              <a:rPr lang="en-IN" dirty="0"/>
              <a:t> DATE NOT NULL,</a:t>
            </a:r>
          </a:p>
          <a:p>
            <a:r>
              <a:rPr lang="en-IN" dirty="0"/>
              <a:t>    </a:t>
            </a:r>
            <a:r>
              <a:rPr lang="en-IN" dirty="0" err="1"/>
              <a:t>total_amount</a:t>
            </a:r>
            <a:r>
              <a:rPr lang="en-IN" dirty="0"/>
              <a:t> NUMBER(10,2) NOT NULL,</a:t>
            </a:r>
          </a:p>
          <a:p>
            <a:r>
              <a:rPr lang="en-IN" dirty="0"/>
              <a:t>    discount NUMBER(10,2) DEFAULT 0,</a:t>
            </a:r>
          </a:p>
          <a:p>
            <a:r>
              <a:rPr lang="en-IN" dirty="0"/>
              <a:t>    FOREIGN KEY (</a:t>
            </a:r>
            <a:r>
              <a:rPr lang="en-IN" dirty="0" err="1"/>
              <a:t>order_id</a:t>
            </a:r>
            <a:r>
              <a:rPr lang="en-IN" dirty="0"/>
              <a:t>) REFERENCES orders(</a:t>
            </a:r>
            <a:r>
              <a:rPr lang="en-IN" dirty="0" err="1"/>
              <a:t>order_id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0E5B6-9902-1D3D-2232-456259B5A0AF}"/>
              </a:ext>
            </a:extLst>
          </p:cNvPr>
          <p:cNvSpPr txBox="1"/>
          <p:nvPr/>
        </p:nvSpPr>
        <p:spPr>
          <a:xfrm>
            <a:off x="336329" y="1958459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BILL TABLE: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864273C-892A-0D72-6B4D-FB5963EA2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04281BD-145F-77C2-169E-CCD4547A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089" y="1334886"/>
            <a:ext cx="6137324" cy="45815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D2752-2E86-CB14-C8F0-F746AD98E165}"/>
              </a:ext>
            </a:extLst>
          </p:cNvPr>
          <p:cNvSpPr txBox="1"/>
          <p:nvPr/>
        </p:nvSpPr>
        <p:spPr>
          <a:xfrm>
            <a:off x="379192" y="2837778"/>
            <a:ext cx="4592858" cy="2862322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CREATE TABLE payment (</a:t>
            </a:r>
          </a:p>
          <a:p>
            <a:r>
              <a:rPr lang="en-IN" dirty="0"/>
              <a:t>    </a:t>
            </a:r>
            <a:r>
              <a:rPr lang="en-IN" dirty="0" err="1"/>
              <a:t>payment_id</a:t>
            </a:r>
            <a:r>
              <a:rPr lang="en-IN" dirty="0"/>
              <a:t>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bill_id</a:t>
            </a:r>
            <a:r>
              <a:rPr lang="en-IN" dirty="0"/>
              <a:t> INT UNIQUE NOT NULL,</a:t>
            </a:r>
          </a:p>
          <a:p>
            <a:r>
              <a:rPr lang="en-IN" dirty="0"/>
              <a:t>    </a:t>
            </a:r>
            <a:r>
              <a:rPr lang="en-IN" dirty="0" err="1"/>
              <a:t>payment_date</a:t>
            </a:r>
            <a:r>
              <a:rPr lang="en-IN" dirty="0"/>
              <a:t> DATE NOT NULL,</a:t>
            </a:r>
          </a:p>
          <a:p>
            <a:r>
              <a:rPr lang="en-IN" dirty="0"/>
              <a:t>    amount NUMBER(10,2) NOT NULL,</a:t>
            </a:r>
          </a:p>
          <a:p>
            <a:r>
              <a:rPr lang="en-IN" dirty="0"/>
              <a:t>    status VARCHAR2(20) NOT NULL,</a:t>
            </a:r>
          </a:p>
          <a:p>
            <a:r>
              <a:rPr lang="en-IN" dirty="0"/>
              <a:t>    </a:t>
            </a:r>
            <a:r>
              <a:rPr lang="en-IN" dirty="0" err="1"/>
              <a:t>payment_type</a:t>
            </a:r>
            <a:r>
              <a:rPr lang="en-IN" dirty="0"/>
              <a:t> VARCHAR2(20) NOT NULL,</a:t>
            </a:r>
          </a:p>
          <a:p>
            <a:r>
              <a:rPr lang="en-IN" dirty="0"/>
              <a:t>    FOREIGN KEY (</a:t>
            </a:r>
            <a:r>
              <a:rPr lang="en-IN" dirty="0" err="1"/>
              <a:t>bill_id</a:t>
            </a:r>
            <a:r>
              <a:rPr lang="en-IN" dirty="0"/>
              <a:t>) REFERENCES bill(</a:t>
            </a:r>
            <a:r>
              <a:rPr lang="en-IN" dirty="0" err="1"/>
              <a:t>bill_id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D6A8C-DB76-597C-B197-1C0AA1137411}"/>
              </a:ext>
            </a:extLst>
          </p:cNvPr>
          <p:cNvSpPr txBox="1"/>
          <p:nvPr/>
        </p:nvSpPr>
        <p:spPr>
          <a:xfrm>
            <a:off x="379192" y="2008892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PAYMENT TABLE: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E2C69-CD98-4652-40C4-E991032A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6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FB5F0B-3493-73AC-39EA-8860ACD4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73"/>
          <a:stretch>
            <a:fillRect/>
          </a:stretch>
        </p:blipFill>
        <p:spPr>
          <a:xfrm>
            <a:off x="4142234" y="1161676"/>
            <a:ext cx="8049766" cy="2447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68AC5-8FF4-1973-B276-BA61DBA1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4142234" y="3898900"/>
            <a:ext cx="8049766" cy="2447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C9EF4F-8DB6-CE42-477E-24A186B54577}"/>
              </a:ext>
            </a:extLst>
          </p:cNvPr>
          <p:cNvSpPr txBox="1"/>
          <p:nvPr/>
        </p:nvSpPr>
        <p:spPr>
          <a:xfrm>
            <a:off x="3505200" y="18092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S</a:t>
            </a:r>
            <a:r>
              <a:rPr lang="en-IN" sz="4800" b="1" dirty="0" err="1"/>
              <a:t>econd</a:t>
            </a:r>
            <a:r>
              <a:rPr lang="en-IN" sz="4800" b="1" dirty="0"/>
              <a:t> normal from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7898628-9B8E-FB4F-FD1D-16ED8B5A20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E609A1-F76C-5F5D-9EB4-B0CAF3B7241E}"/>
              </a:ext>
            </a:extLst>
          </p:cNvPr>
          <p:cNvSpPr txBox="1"/>
          <p:nvPr/>
        </p:nvSpPr>
        <p:spPr>
          <a:xfrm>
            <a:off x="150592" y="1668061"/>
            <a:ext cx="376872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Functional Dependencies:</a:t>
            </a:r>
          </a:p>
          <a:p>
            <a:endParaRPr lang="en-IN" sz="1400" b="1" dirty="0"/>
          </a:p>
          <a:p>
            <a:r>
              <a:rPr lang="en-IN" sz="1400" dirty="0" err="1"/>
              <a:t>Order_ID</a:t>
            </a:r>
            <a:r>
              <a:rPr lang="en-IN" sz="1400" dirty="0"/>
              <a:t> → </a:t>
            </a:r>
            <a:r>
              <a:rPr lang="en-IN" sz="1400" dirty="0" err="1"/>
              <a:t>Customer_ID</a:t>
            </a:r>
            <a:r>
              <a:rPr lang="en-IN" sz="1400" dirty="0"/>
              <a:t>, </a:t>
            </a:r>
            <a:r>
              <a:rPr lang="en-IN" sz="1400" dirty="0" err="1"/>
              <a:t>Customer_Name</a:t>
            </a:r>
            <a:r>
              <a:rPr lang="en-IN" sz="1400" dirty="0"/>
              <a:t>, </a:t>
            </a:r>
            <a:r>
              <a:rPr lang="en-IN" sz="1400" dirty="0" err="1"/>
              <a:t>Employee_ID</a:t>
            </a:r>
            <a:r>
              <a:rPr lang="en-IN" sz="1400" dirty="0"/>
              <a:t>, </a:t>
            </a:r>
            <a:r>
              <a:rPr lang="en-IN" sz="1400" dirty="0" err="1"/>
              <a:t>Employee_Name</a:t>
            </a:r>
            <a:r>
              <a:rPr lang="en-IN" sz="1400" dirty="0"/>
              <a:t>, </a:t>
            </a:r>
            <a:r>
              <a:rPr lang="en-IN" sz="1400" dirty="0" err="1"/>
              <a:t>Table_ID</a:t>
            </a:r>
            <a:r>
              <a:rPr lang="en-IN" sz="1400" dirty="0"/>
              <a:t>, </a:t>
            </a:r>
            <a:r>
              <a:rPr lang="en-IN" sz="1400" dirty="0" err="1"/>
              <a:t>Table_Capacity</a:t>
            </a:r>
            <a:endParaRPr lang="en-IN" sz="1400" dirty="0"/>
          </a:p>
          <a:p>
            <a:r>
              <a:rPr lang="en-IN" sz="1400" dirty="0" err="1"/>
              <a:t>Order_Item_ID</a:t>
            </a:r>
            <a:r>
              <a:rPr lang="en-IN" sz="1400" dirty="0"/>
              <a:t> → </a:t>
            </a:r>
            <a:r>
              <a:rPr lang="en-IN" sz="1400" dirty="0" err="1"/>
              <a:t>Order_ID</a:t>
            </a:r>
            <a:r>
              <a:rPr lang="en-IN" sz="1400" dirty="0"/>
              <a:t>, </a:t>
            </a:r>
            <a:r>
              <a:rPr lang="en-IN" sz="1400" dirty="0" err="1"/>
              <a:t>Item_ID</a:t>
            </a:r>
            <a:r>
              <a:rPr lang="en-IN" sz="1400" dirty="0"/>
              <a:t>, </a:t>
            </a:r>
            <a:r>
              <a:rPr lang="en-IN" sz="1400" dirty="0" err="1"/>
              <a:t>Item_Name</a:t>
            </a:r>
            <a:r>
              <a:rPr lang="en-IN" sz="1400" dirty="0"/>
              <a:t>, Quantity, </a:t>
            </a:r>
            <a:r>
              <a:rPr lang="en-IN" sz="1400" dirty="0" err="1"/>
              <a:t>Unit_Price</a:t>
            </a:r>
            <a:endParaRPr lang="en-IN" sz="1400" dirty="0"/>
          </a:p>
          <a:p>
            <a:r>
              <a:rPr lang="en-IN" sz="1400" dirty="0"/>
              <a:t>PRIMARY KEYS</a:t>
            </a:r>
          </a:p>
          <a:p>
            <a:r>
              <a:rPr lang="en-IN" sz="1400" dirty="0"/>
              <a:t>ORDERS_2NF: </a:t>
            </a:r>
            <a:r>
              <a:rPr lang="en-IN" sz="1400" dirty="0" err="1"/>
              <a:t>Order_ID</a:t>
            </a:r>
            <a:endParaRPr lang="en-IN" sz="1400" dirty="0"/>
          </a:p>
          <a:p>
            <a:r>
              <a:rPr lang="en-IN" sz="1400" dirty="0"/>
              <a:t>ORDER_ITEM_2NF: </a:t>
            </a:r>
            <a:r>
              <a:rPr lang="en-IN" sz="1400" dirty="0" err="1"/>
              <a:t>Order_Item_ID</a:t>
            </a:r>
            <a:endParaRPr lang="en-IN" sz="1400" dirty="0"/>
          </a:p>
          <a:p>
            <a:endParaRPr lang="en-IN" sz="1400" dirty="0"/>
          </a:p>
          <a:p>
            <a:r>
              <a:rPr lang="en-IN" sz="1600" b="1" dirty="0"/>
              <a:t>2NF:</a:t>
            </a:r>
          </a:p>
          <a:p>
            <a:endParaRPr lang="en-IN" sz="1400" b="1" dirty="0"/>
          </a:p>
          <a:p>
            <a:r>
              <a:rPr lang="en-IN" sz="1400" dirty="0"/>
              <a:t>The 1NF relation is divided into two relations based on order and order-item information.</a:t>
            </a:r>
          </a:p>
          <a:p>
            <a:r>
              <a:rPr lang="en-IN" sz="1400" dirty="0"/>
              <a:t>Each relation has a single-column primary key.</a:t>
            </a:r>
          </a:p>
          <a:p>
            <a:r>
              <a:rPr lang="en-IN" sz="1400" dirty="0"/>
              <a:t>Order information is stored in ORDERS_2NF.</a:t>
            </a:r>
          </a:p>
          <a:p>
            <a:r>
              <a:rPr lang="en-IN" sz="1400" dirty="0"/>
              <a:t>Item information related to each order is stored in ORDER_ITEM_2NF.</a:t>
            </a:r>
          </a:p>
          <a:p>
            <a:r>
              <a:rPr lang="en-IN" sz="1400" dirty="0"/>
              <a:t>This reduces unnecessary repetition of order and item information.</a:t>
            </a:r>
          </a:p>
        </p:txBody>
      </p:sp>
    </p:spTree>
    <p:extLst>
      <p:ext uri="{BB962C8B-B14F-4D97-AF65-F5344CB8AC3E}">
        <p14:creationId xmlns:p14="http://schemas.microsoft.com/office/powerpoint/2010/main" val="934932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B18460-EA0B-B768-495A-A8DBAED2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96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D6E1C0-BFBF-8AF3-F211-33D10BA2A5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A94FC-60A6-130F-0CEB-A03DC6DD4CC6}"/>
              </a:ext>
            </a:extLst>
          </p:cNvPr>
          <p:cNvSpPr txBox="1"/>
          <p:nvPr/>
        </p:nvSpPr>
        <p:spPr>
          <a:xfrm>
            <a:off x="973931" y="1860500"/>
            <a:ext cx="1024413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Conclusion</a:t>
            </a:r>
          </a:p>
          <a:p>
            <a:endParaRPr lang="en-IN" sz="3600" b="1" dirty="0"/>
          </a:p>
          <a:p>
            <a:r>
              <a:rPr lang="en-IN" sz="2400" dirty="0"/>
              <a:t>To conclude, our Restaurant Management System helps manage customers, employees, dining tables, menu items, orders, bills, and payments in an organized way.</a:t>
            </a:r>
          </a:p>
          <a:p>
            <a:r>
              <a:rPr lang="en-IN" sz="2400" dirty="0"/>
              <a:t>It reduces manual work, improves data management, and provides quick access to accurate restaurant records.</a:t>
            </a:r>
          </a:p>
          <a:p>
            <a:r>
              <a:rPr lang="en-IN" sz="2400" dirty="0"/>
              <a:t>Overall, the system helps make restaurant operations more organized, efficient, and reliable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388445-735F-BDEA-C7C4-DFC5BEB4C1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592" y="142820"/>
            <a:ext cx="3159764" cy="12636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8335B1-18E6-354A-16D6-B2CB691E3B3A}"/>
              </a:ext>
            </a:extLst>
          </p:cNvPr>
          <p:cNvSpPr txBox="1"/>
          <p:nvPr/>
        </p:nvSpPr>
        <p:spPr>
          <a:xfrm>
            <a:off x="0" y="3244334"/>
            <a:ext cx="1219199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7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2460</Words>
  <Application>Microsoft Office PowerPoint</Application>
  <PresentationFormat>Widescreen</PresentationFormat>
  <Paragraphs>428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RESTAURANT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kiran Naik</dc:creator>
  <cp:lastModifiedBy>akhil santosh</cp:lastModifiedBy>
  <cp:revision>7</cp:revision>
  <dcterms:created xsi:type="dcterms:W3CDTF">2026-09-28T07:56:29Z</dcterms:created>
  <dcterms:modified xsi:type="dcterms:W3CDTF">2026-09-30T07:43:26Z</dcterms:modified>
</cp:coreProperties>
</file>